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D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1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6400800" y="640080"/>
            <a:ext cx="0" cy="5486400"/>
          </a:xfrm>
          <a:prstGeom prst="line">
            <a:avLst/>
          </a:prstGeom>
          <a:ln w="5080">
            <a:solidFill>
              <a:srgbClr val="1F2F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6995160" y="640080"/>
            <a:ext cx="0" cy="5486400"/>
          </a:xfrm>
          <a:prstGeom prst="line">
            <a:avLst/>
          </a:prstGeom>
          <a:ln w="5080">
            <a:solidFill>
              <a:srgbClr val="1F2F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589520" y="640080"/>
            <a:ext cx="0" cy="5486400"/>
          </a:xfrm>
          <a:prstGeom prst="line">
            <a:avLst/>
          </a:prstGeom>
          <a:ln w="5080">
            <a:solidFill>
              <a:srgbClr val="1F2F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8183879" y="640080"/>
            <a:ext cx="0" cy="5486400"/>
          </a:xfrm>
          <a:prstGeom prst="line">
            <a:avLst/>
          </a:prstGeom>
          <a:ln w="5080">
            <a:solidFill>
              <a:srgbClr val="1F2F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8778240" y="640080"/>
            <a:ext cx="0" cy="5486400"/>
          </a:xfrm>
          <a:prstGeom prst="line">
            <a:avLst/>
          </a:prstGeom>
          <a:ln w="5080">
            <a:solidFill>
              <a:srgbClr val="1F2F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372600" y="640080"/>
            <a:ext cx="0" cy="5486400"/>
          </a:xfrm>
          <a:prstGeom prst="line">
            <a:avLst/>
          </a:prstGeom>
          <a:ln w="5080">
            <a:solidFill>
              <a:srgbClr val="1F2F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9966960" y="640080"/>
            <a:ext cx="0" cy="5486400"/>
          </a:xfrm>
          <a:prstGeom prst="line">
            <a:avLst/>
          </a:prstGeom>
          <a:ln w="5080">
            <a:solidFill>
              <a:srgbClr val="1F2F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0561320" y="640080"/>
            <a:ext cx="0" cy="5486400"/>
          </a:xfrm>
          <a:prstGeom prst="line">
            <a:avLst/>
          </a:prstGeom>
          <a:ln w="5080">
            <a:solidFill>
              <a:srgbClr val="1F2F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126480" y="914400"/>
            <a:ext cx="5577840" cy="0"/>
          </a:xfrm>
          <a:prstGeom prst="line">
            <a:avLst/>
          </a:prstGeom>
          <a:ln w="5080">
            <a:solidFill>
              <a:srgbClr val="1F2F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126480" y="1417320"/>
            <a:ext cx="5577840" cy="0"/>
          </a:xfrm>
          <a:prstGeom prst="line">
            <a:avLst/>
          </a:prstGeom>
          <a:ln w="5080">
            <a:solidFill>
              <a:srgbClr val="1F2F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126480" y="1920240"/>
            <a:ext cx="5577840" cy="0"/>
          </a:xfrm>
          <a:prstGeom prst="line">
            <a:avLst/>
          </a:prstGeom>
          <a:ln w="5080">
            <a:solidFill>
              <a:srgbClr val="1F2F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126480" y="2423160"/>
            <a:ext cx="5577840" cy="0"/>
          </a:xfrm>
          <a:prstGeom prst="line">
            <a:avLst/>
          </a:prstGeom>
          <a:ln w="5080">
            <a:solidFill>
              <a:srgbClr val="1F2F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126480" y="2926080"/>
            <a:ext cx="5577840" cy="0"/>
          </a:xfrm>
          <a:prstGeom prst="line">
            <a:avLst/>
          </a:prstGeom>
          <a:ln w="5080">
            <a:solidFill>
              <a:srgbClr val="1F2F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126480" y="3429000"/>
            <a:ext cx="5577840" cy="0"/>
          </a:xfrm>
          <a:prstGeom prst="line">
            <a:avLst/>
          </a:prstGeom>
          <a:ln w="5080">
            <a:solidFill>
              <a:srgbClr val="1F2F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126480" y="3931920"/>
            <a:ext cx="5577840" cy="0"/>
          </a:xfrm>
          <a:prstGeom prst="line">
            <a:avLst/>
          </a:prstGeom>
          <a:ln w="5080">
            <a:solidFill>
              <a:srgbClr val="1F2F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126480" y="4434840"/>
            <a:ext cx="5577840" cy="0"/>
          </a:xfrm>
          <a:prstGeom prst="line">
            <a:avLst/>
          </a:prstGeom>
          <a:ln w="5080">
            <a:solidFill>
              <a:srgbClr val="1F2F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126480" y="4937760"/>
            <a:ext cx="5577840" cy="0"/>
          </a:xfrm>
          <a:prstGeom prst="line">
            <a:avLst/>
          </a:prstGeom>
          <a:ln w="5080">
            <a:solidFill>
              <a:srgbClr val="1F2F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126480" y="5440680"/>
            <a:ext cx="5577840" cy="0"/>
          </a:xfrm>
          <a:prstGeom prst="line">
            <a:avLst/>
          </a:prstGeom>
          <a:ln w="5080">
            <a:solidFill>
              <a:srgbClr val="1F2F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58368" y="658368"/>
            <a:ext cx="2423160" cy="347472"/>
          </a:xfrm>
          <a:prstGeom prst="roundRect">
            <a:avLst/>
          </a:prstGeom>
          <a:solidFill>
            <a:srgbClr val="31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8368" y="676656"/>
            <a:ext cx="2423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080D16"/>
                </a:solidFill>
                <a:latin typeface="Aptos"/>
              </a:rPr>
              <a:t>D1  •  DEFENSE &amp; AEROSPACE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1417320"/>
            <a:ext cx="54864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200" b="1" dirty="0">
                <a:solidFill>
                  <a:srgbClr val="F1F5F9"/>
                </a:solidFill>
                <a:latin typeface="Aptos"/>
              </a:rPr>
              <a:t>MISSIONGUARD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00600" y="1417320"/>
            <a:ext cx="2286000" cy="7386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200" b="1" dirty="0">
                <a:solidFill>
                  <a:srgbClr val="31D3BE"/>
                </a:solidFill>
                <a:latin typeface="Aptos"/>
              </a:rPr>
              <a:t>AI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2240280"/>
            <a:ext cx="55778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0">
                <a:solidFill>
                  <a:srgbClr val="9DABBE"/>
                </a:solidFill>
                <a:latin typeface="Aptos"/>
              </a:rPr>
              <a:t>Explainable Mission Readiness
&amp; Predictive Maintenance Copilot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3703320"/>
            <a:ext cx="5852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1D3BE"/>
                </a:solidFill>
                <a:latin typeface="Aptos"/>
              </a:rPr>
              <a:t>DATA  →  INSIGHT  →  READINESS  →  ACTION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720840" y="1417320"/>
            <a:ext cx="4343400" cy="3931920"/>
          </a:xfrm>
          <a:prstGeom prst="roundRect">
            <a:avLst/>
          </a:prstGeom>
          <a:solidFill>
            <a:srgbClr val="0F1825"/>
          </a:solidFill>
          <a:ln w="12700">
            <a:solidFill>
              <a:srgbClr val="1F2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059168" y="178308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9DABBE"/>
                </a:solidFill>
                <a:latin typeface="Aptos"/>
              </a:rPr>
              <a:t>MISSION READINESS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40880" y="2148840"/>
            <a:ext cx="3657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800" b="1" dirty="0">
                <a:solidFill>
                  <a:srgbClr val="31D3BE"/>
                </a:solidFill>
                <a:latin typeface="Aptos"/>
              </a:rPr>
              <a:t>78%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38160" y="3273552"/>
            <a:ext cx="1508760" cy="347472"/>
          </a:xfrm>
          <a:prstGeom prst="roundRect">
            <a:avLst/>
          </a:prstGeom>
          <a:solidFill>
            <a:srgbClr val="F6B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138160" y="3291840"/>
            <a:ext cx="15087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080D16"/>
                </a:solidFill>
                <a:latin typeface="Aptos"/>
              </a:rPr>
              <a:t>CAUTION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086600" y="3977639"/>
            <a:ext cx="1691640" cy="1005840"/>
          </a:xfrm>
          <a:prstGeom prst="roundRect">
            <a:avLst/>
          </a:prstGeom>
          <a:solidFill>
            <a:srgbClr val="0F1825"/>
          </a:solidFill>
          <a:ln w="12700">
            <a:solidFill>
              <a:srgbClr val="1F2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251192" y="4123944"/>
            <a:ext cx="136245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9DABBE"/>
                </a:solidFill>
                <a:latin typeface="Aptos"/>
              </a:rPr>
              <a:t>TOP RISK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67728" y="4645152"/>
            <a:ext cx="13258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dirty="0">
                <a:solidFill>
                  <a:srgbClr val="EF5B5B"/>
                </a:solidFill>
                <a:latin typeface="Aptos"/>
              </a:rPr>
              <a:t>Vibratio</a:t>
            </a:r>
            <a:r>
              <a:rPr lang="en-US" sz="1800" b="1" dirty="0">
                <a:solidFill>
                  <a:srgbClr val="EF5B5B"/>
                </a:solidFill>
                <a:latin typeface="Aptos"/>
              </a:rPr>
              <a:t>n</a:t>
            </a:r>
            <a:endParaRPr sz="2300" b="1" dirty="0">
              <a:solidFill>
                <a:srgbClr val="EF5B5B"/>
              </a:solidFill>
              <a:latin typeface="Aptos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8915400" y="3977639"/>
            <a:ext cx="1691640" cy="1005840"/>
          </a:xfrm>
          <a:prstGeom prst="roundRect">
            <a:avLst/>
          </a:prstGeom>
          <a:solidFill>
            <a:srgbClr val="0F1825"/>
          </a:solidFill>
          <a:ln w="12700">
            <a:solidFill>
              <a:srgbClr val="1F2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079992" y="4123944"/>
            <a:ext cx="136245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9DABBE"/>
                </a:solidFill>
                <a:latin typeface="Aptos"/>
              </a:rPr>
              <a:t>SERVICE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79992" y="4370831"/>
            <a:ext cx="1362456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F6B743"/>
                </a:solidFill>
                <a:latin typeface="Aptos"/>
              </a:rPr>
              <a:t>180 days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" y="5989320"/>
            <a:ext cx="274320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dirty="0">
                <a:solidFill>
                  <a:srgbClr val="F1F5F9"/>
                </a:solidFill>
                <a:latin typeface="Aptos"/>
              </a:rPr>
              <a:t>Team</a:t>
            </a:r>
            <a:r>
              <a:rPr lang="en-US" sz="1300" b="1" dirty="0">
                <a:solidFill>
                  <a:srgbClr val="F1F5F9"/>
                </a:solidFill>
                <a:latin typeface="Aptos"/>
              </a:rPr>
              <a:t>: CODESTORM</a:t>
            </a:r>
            <a:endParaRPr sz="1300" b="1" dirty="0">
              <a:solidFill>
                <a:srgbClr val="F1F5F9"/>
              </a:solidFill>
              <a:latin typeface="Aptos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685800" y="6291072"/>
            <a:ext cx="4114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9DABBE"/>
                </a:solidFill>
                <a:latin typeface="Aptos"/>
              </a:rPr>
              <a:t>Prototype • Synthetic demonstration data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1792" y="6510528"/>
            <a:ext cx="5486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9DABBE"/>
                </a:solidFill>
                <a:latin typeface="Aptos"/>
              </a:rPr>
              <a:t>CODESTORM  •  MISSIONGUARD AI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109960" y="6473952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DABBE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D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1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1F5F9"/>
                </a:solidFill>
                <a:latin typeface="Aptos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9DABBE"/>
                </a:solidFill>
                <a:latin typeface="Aptos"/>
              </a:rPr>
              <a:t>Mission readiness is not just a maintenance schedule.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3657600" cy="4480560"/>
          </a:xfrm>
          <a:prstGeom prst="roundRect">
            <a:avLst/>
          </a:prstGeom>
          <a:solidFill>
            <a:srgbClr val="0F1825"/>
          </a:solidFill>
          <a:ln w="12700">
            <a:solidFill>
              <a:srgbClr val="1F2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1691640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1D3BE"/>
                </a:solidFill>
                <a:latin typeface="Aptos"/>
              </a:rPr>
              <a:t>THE DECISION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057400"/>
            <a:ext cx="29260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F1F5F9"/>
                </a:solidFill>
                <a:latin typeface="Aptos"/>
              </a:rPr>
              <a:t>Is this asset ready
for the next mission?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3246120"/>
            <a:ext cx="2880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DABBE"/>
                </a:solidFill>
                <a:latin typeface="Aptos"/>
              </a:rPr>
              <a:t>The answer is often buried across sensor signals, service history and usage.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4983480"/>
            <a:ext cx="1234440" cy="347472"/>
          </a:xfrm>
          <a:prstGeom prst="roundRect">
            <a:avLst/>
          </a:prstGeom>
          <a:solidFill>
            <a:srgbClr val="31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5001768"/>
            <a:ext cx="12344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080D16"/>
                </a:solidFill>
                <a:latin typeface="Aptos"/>
              </a:rPr>
              <a:t>READINESS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86000" y="4983480"/>
            <a:ext cx="822960" cy="347472"/>
          </a:xfrm>
          <a:prstGeom prst="roundRect">
            <a:avLst/>
          </a:prstGeom>
          <a:solidFill>
            <a:srgbClr val="EF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286000" y="5001768"/>
            <a:ext cx="8229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080D16"/>
                </a:solidFill>
                <a:latin typeface="Aptos"/>
              </a:rPr>
              <a:t>RISK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46120" y="4983480"/>
            <a:ext cx="914400" cy="347472"/>
          </a:xfrm>
          <a:prstGeom prst="roundRect">
            <a:avLst/>
          </a:prstGeom>
          <a:solidFill>
            <a:srgbClr val="F6B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246120" y="5001768"/>
            <a:ext cx="914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080D16"/>
                </a:solidFill>
                <a:latin typeface="Aptos"/>
              </a:rPr>
              <a:t>ACTION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60" y="1508760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1F5F9"/>
                </a:solidFill>
                <a:latin typeface="Aptos"/>
              </a:rPr>
              <a:t>Today's monitoring gap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9160" y="2011680"/>
            <a:ext cx="64008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500">
                <a:solidFill>
                  <a:srgbClr val="F1F5F9"/>
                </a:solidFill>
                <a:latin typeface="Aptos"/>
              </a:defRPr>
            </a:pPr>
            <a:r>
              <a:rPr>
                <a:solidFill>
                  <a:srgbClr val="31D3BE"/>
                </a:solidFill>
              </a:rPr>
              <a:t>▸  Scheduled servicing can miss condition-based warning signs.</a:t>
            </a:r>
          </a:p>
          <a:p>
            <a:pPr>
              <a:spcAft>
                <a:spcPts val="1100"/>
              </a:spcAft>
              <a:defRPr sz="1500">
                <a:solidFill>
                  <a:srgbClr val="F1F5F9"/>
                </a:solidFill>
                <a:latin typeface="Aptos"/>
              </a:defRPr>
            </a:pPr>
            <a:r>
              <a:rPr>
                <a:solidFill>
                  <a:srgbClr val="31D3BE"/>
                </a:solidFill>
              </a:rPr>
              <a:t>▸  HUMS / sensor signals may be underutilized.</a:t>
            </a:r>
          </a:p>
          <a:p>
            <a:pPr>
              <a:spcAft>
                <a:spcPts val="1100"/>
              </a:spcAft>
              <a:defRPr sz="1500">
                <a:solidFill>
                  <a:srgbClr val="F1F5F9"/>
                </a:solidFill>
                <a:latin typeface="Aptos"/>
              </a:defRPr>
            </a:pPr>
            <a:r>
              <a:rPr>
                <a:solidFill>
                  <a:srgbClr val="31D3BE"/>
                </a:solidFill>
              </a:rPr>
              <a:t>▸  Service records add context but are hard to synthesize quickly.</a:t>
            </a:r>
          </a:p>
          <a:p>
            <a:pPr>
              <a:spcAft>
                <a:spcPts val="1100"/>
              </a:spcAft>
              <a:defRPr sz="1500">
                <a:solidFill>
                  <a:srgbClr val="F1F5F9"/>
                </a:solidFill>
                <a:latin typeface="Aptos"/>
              </a:defRPr>
            </a:pPr>
            <a:r>
              <a:rPr>
                <a:solidFill>
                  <a:srgbClr val="31D3BE"/>
                </a:solidFill>
              </a:rPr>
              <a:t>▸  A single risk score does not explain where the problem is.</a:t>
            </a:r>
          </a:p>
          <a:p>
            <a:pPr>
              <a:spcAft>
                <a:spcPts val="1100"/>
              </a:spcAft>
              <a:defRPr sz="1500">
                <a:solidFill>
                  <a:srgbClr val="F1F5F9"/>
                </a:solidFill>
                <a:latin typeface="Aptos"/>
              </a:defRPr>
            </a:pPr>
            <a:r>
              <a:rPr>
                <a:solidFill>
                  <a:srgbClr val="31D3BE"/>
                </a:solidFill>
              </a:rPr>
              <a:t>▸  Teams need a clear priority before the next mission window.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09160" y="5349240"/>
            <a:ext cx="6400800" cy="594360"/>
          </a:xfrm>
          <a:prstGeom prst="roundRect">
            <a:avLst/>
          </a:prstGeom>
          <a:solidFill>
            <a:srgbClr val="142030"/>
          </a:solidFill>
          <a:ln w="12700">
            <a:solidFill>
              <a:srgbClr val="1F2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919472" y="5504688"/>
            <a:ext cx="5989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1D3BE"/>
                </a:solidFill>
                <a:latin typeface="Aptos"/>
              </a:rPr>
              <a:t>Core challenge: transform data into an understandable, actionable readiness assessment.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" y="6510528"/>
            <a:ext cx="5486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9DABBE"/>
                </a:solidFill>
                <a:latin typeface="Aptos"/>
              </a:rPr>
              <a:t>CODESTORM  •  MISSIONGUARD AI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09960" y="6473952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DABBE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D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1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1F5F9"/>
                </a:solidFill>
                <a:latin typeface="Aptos"/>
              </a:rPr>
              <a:t>Our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9DABBE"/>
                </a:solidFill>
                <a:latin typeface="Aptos"/>
              </a:rPr>
              <a:t>MissionGuard turns scattered health signals into one explainable decision.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1645920" cy="1051560"/>
          </a:xfrm>
          <a:prstGeom prst="roundRect">
            <a:avLst/>
          </a:prstGeom>
          <a:solidFill>
            <a:srgbClr val="142030"/>
          </a:solidFill>
          <a:ln w="12700">
            <a:solidFill>
              <a:srgbClr val="1F2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920240"/>
            <a:ext cx="14630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1F5F9"/>
                </a:solidFill>
                <a:latin typeface="Aptos"/>
              </a:rPr>
              <a:t>SENSOR
DATA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828800"/>
            <a:ext cx="50292" cy="1051560"/>
          </a:xfrm>
          <a:prstGeom prst="rect">
            <a:avLst/>
          </a:prstGeom>
          <a:solidFill>
            <a:srgbClr val="31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8" name="Connector 7"/>
          <p:cNvCxnSpPr/>
          <p:nvPr/>
        </p:nvCxnSpPr>
        <p:spPr>
          <a:xfrm>
            <a:off x="2331720" y="2359152"/>
            <a:ext cx="594360" cy="0"/>
          </a:xfrm>
          <a:prstGeom prst="line">
            <a:avLst/>
          </a:prstGeom>
          <a:ln w="27940">
            <a:solidFill>
              <a:srgbClr val="31D3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926080" y="1828800"/>
            <a:ext cx="1645920" cy="1051560"/>
          </a:xfrm>
          <a:prstGeom prst="roundRect">
            <a:avLst/>
          </a:prstGeom>
          <a:solidFill>
            <a:srgbClr val="142030"/>
          </a:solidFill>
          <a:ln w="12700">
            <a:solidFill>
              <a:srgbClr val="1F2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017520" y="1920240"/>
            <a:ext cx="14630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1F5F9"/>
                </a:solidFill>
                <a:latin typeface="Aptos"/>
              </a:rPr>
              <a:t>HEALTH
ANALYSIS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26080" y="1828800"/>
            <a:ext cx="50292" cy="1051560"/>
          </a:xfrm>
          <a:prstGeom prst="rect">
            <a:avLst/>
          </a:prstGeom>
          <a:solidFill>
            <a:srgbClr val="47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2" name="Connector 11"/>
          <p:cNvCxnSpPr/>
          <p:nvPr/>
        </p:nvCxnSpPr>
        <p:spPr>
          <a:xfrm>
            <a:off x="4572000" y="2359152"/>
            <a:ext cx="594360" cy="0"/>
          </a:xfrm>
          <a:prstGeom prst="line">
            <a:avLst/>
          </a:prstGeom>
          <a:ln w="27940">
            <a:solidFill>
              <a:srgbClr val="479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166360" y="1828800"/>
            <a:ext cx="1645920" cy="1051560"/>
          </a:xfrm>
          <a:prstGeom prst="roundRect">
            <a:avLst/>
          </a:prstGeom>
          <a:solidFill>
            <a:srgbClr val="142030"/>
          </a:solidFill>
          <a:ln w="12700">
            <a:solidFill>
              <a:srgbClr val="1F2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257800" y="1920240"/>
            <a:ext cx="14630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1F5F9"/>
                </a:solidFill>
                <a:latin typeface="Aptos"/>
              </a:rPr>
              <a:t>READINESS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66360" y="1828800"/>
            <a:ext cx="50292" cy="1051560"/>
          </a:xfrm>
          <a:prstGeom prst="rect">
            <a:avLst/>
          </a:prstGeom>
          <a:solidFill>
            <a:srgbClr val="4BC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6" name="Connector 15"/>
          <p:cNvCxnSpPr/>
          <p:nvPr/>
        </p:nvCxnSpPr>
        <p:spPr>
          <a:xfrm>
            <a:off x="6812280" y="2359152"/>
            <a:ext cx="594360" cy="0"/>
          </a:xfrm>
          <a:prstGeom prst="line">
            <a:avLst/>
          </a:prstGeom>
          <a:ln w="27940">
            <a:solidFill>
              <a:srgbClr val="4BCD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406640" y="1828800"/>
            <a:ext cx="1645920" cy="1051560"/>
          </a:xfrm>
          <a:prstGeom prst="roundRect">
            <a:avLst/>
          </a:prstGeom>
          <a:solidFill>
            <a:srgbClr val="142030"/>
          </a:solidFill>
          <a:ln w="12700">
            <a:solidFill>
              <a:srgbClr val="1F2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498079" y="1920240"/>
            <a:ext cx="14630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1F5F9"/>
                </a:solidFill>
                <a:latin typeface="Aptos"/>
              </a:rPr>
              <a:t>RISK +
WHY?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06640" y="1828800"/>
            <a:ext cx="50292" cy="1051560"/>
          </a:xfrm>
          <a:prstGeom prst="rect">
            <a:avLst/>
          </a:prstGeom>
          <a:solidFill>
            <a:srgbClr val="EF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0" name="Connector 19"/>
          <p:cNvCxnSpPr/>
          <p:nvPr/>
        </p:nvCxnSpPr>
        <p:spPr>
          <a:xfrm>
            <a:off x="9052560" y="2359152"/>
            <a:ext cx="594360" cy="0"/>
          </a:xfrm>
          <a:prstGeom prst="line">
            <a:avLst/>
          </a:prstGeom>
          <a:ln w="27940">
            <a:solidFill>
              <a:srgbClr val="EF5B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646920" y="1828800"/>
            <a:ext cx="1645920" cy="1051560"/>
          </a:xfrm>
          <a:prstGeom prst="roundRect">
            <a:avLst/>
          </a:prstGeom>
          <a:solidFill>
            <a:srgbClr val="142030"/>
          </a:solidFill>
          <a:ln w="12700">
            <a:solidFill>
              <a:srgbClr val="1F2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738360" y="1920240"/>
            <a:ext cx="14630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1F5F9"/>
                </a:solidFill>
                <a:latin typeface="Aptos"/>
              </a:rPr>
              <a:t>ACTION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46920" y="1828800"/>
            <a:ext cx="50292" cy="1051560"/>
          </a:xfrm>
          <a:prstGeom prst="rect">
            <a:avLst/>
          </a:prstGeom>
          <a:solidFill>
            <a:srgbClr val="F6B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4400" y="3657600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1F5F9"/>
                </a:solidFill>
                <a:latin typeface="Aptos"/>
              </a:rPr>
              <a:t>WHAT is wrong?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74920" y="3657600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1F5F9"/>
                </a:solidFill>
                <a:latin typeface="Aptos"/>
              </a:rPr>
              <a:t>WHY is it risky?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3657600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1F5F9"/>
                </a:solidFill>
                <a:latin typeface="Aptos"/>
              </a:rPr>
              <a:t>WHAT should be prioritized?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828800" y="2971800"/>
            <a:ext cx="0" cy="548640"/>
          </a:xfrm>
          <a:prstGeom prst="line">
            <a:avLst/>
          </a:prstGeom>
          <a:ln w="27940">
            <a:solidFill>
              <a:srgbClr val="31D3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989320" y="2971800"/>
            <a:ext cx="0" cy="548640"/>
          </a:xfrm>
          <a:prstGeom prst="line">
            <a:avLst/>
          </a:prstGeom>
          <a:ln w="27940">
            <a:solidFill>
              <a:srgbClr val="EF5B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0058400" y="2971800"/>
            <a:ext cx="0" cy="548640"/>
          </a:xfrm>
          <a:prstGeom prst="line">
            <a:avLst/>
          </a:prstGeom>
          <a:ln w="27940">
            <a:solidFill>
              <a:srgbClr val="F6B7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60120" y="4251960"/>
            <a:ext cx="10149840" cy="1143000"/>
          </a:xfrm>
          <a:prstGeom prst="roundRect">
            <a:avLst/>
          </a:prstGeom>
          <a:solidFill>
            <a:srgbClr val="0F1825"/>
          </a:solidFill>
          <a:ln w="12700">
            <a:solidFill>
              <a:srgbClr val="1F2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417320" y="457200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9DABBE"/>
                </a:solidFill>
                <a:latin typeface="Aptos"/>
              </a:rPr>
              <a:t>DATA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514600" y="4526280"/>
            <a:ext cx="365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31D3BE"/>
                </a:solidFill>
                <a:latin typeface="Aptos"/>
              </a:rPr>
              <a:t>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71800" y="457200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9DABBE"/>
                </a:solidFill>
                <a:latin typeface="Aptos"/>
              </a:rPr>
              <a:t>INSIGHT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43400" y="4526280"/>
            <a:ext cx="365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31D3BE"/>
                </a:solidFill>
                <a:latin typeface="Aptos"/>
              </a:rPr>
              <a:t>→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00600" y="4572000"/>
            <a:ext cx="1417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9DABBE"/>
                </a:solidFill>
                <a:latin typeface="Aptos"/>
              </a:rPr>
              <a:t>EXPLANATION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4526280"/>
            <a:ext cx="365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31D3BE"/>
                </a:solidFill>
                <a:latin typeface="Aptos"/>
              </a:rPr>
              <a:t>→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49440" y="457200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9DABBE"/>
                </a:solidFill>
                <a:latin typeface="Aptos"/>
              </a:rPr>
              <a:t>ACTION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92440" y="4526280"/>
            <a:ext cx="365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31D3BE"/>
                </a:solidFill>
                <a:latin typeface="Aptos"/>
              </a:rPr>
              <a:t>→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49640" y="457200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31D3BE"/>
                </a:solidFill>
                <a:latin typeface="Aptos"/>
              </a:rPr>
              <a:t>MISSION DECISION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1792" y="6510528"/>
            <a:ext cx="5486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9DABBE"/>
                </a:solidFill>
                <a:latin typeface="Aptos"/>
              </a:rPr>
              <a:t>CODESTORM  •  MISSIONGUARD AI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109960" y="6473952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DABBE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D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1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1F5F9"/>
                </a:solidFill>
                <a:latin typeface="Aptos"/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9DABBE"/>
                </a:solidFill>
                <a:latin typeface="Aptos"/>
              </a:rPr>
              <a:t>A transparent pipeline from asset data to readiness.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00200"/>
            <a:ext cx="1920240" cy="777240"/>
          </a:xfrm>
          <a:prstGeom prst="roundRect">
            <a:avLst/>
          </a:prstGeom>
          <a:solidFill>
            <a:srgbClr val="142030"/>
          </a:solidFill>
          <a:ln w="12700">
            <a:solidFill>
              <a:srgbClr val="1F2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19" y="1691640"/>
            <a:ext cx="1737360" cy="5943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1F5F9"/>
                </a:solidFill>
                <a:latin typeface="Aptos"/>
              </a:rPr>
              <a:t>SENSOR DATA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600200"/>
            <a:ext cx="50292" cy="777240"/>
          </a:xfrm>
          <a:prstGeom prst="rect">
            <a:avLst/>
          </a:prstGeom>
          <a:solidFill>
            <a:srgbClr val="31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40080" y="2788920"/>
            <a:ext cx="1920240" cy="777240"/>
          </a:xfrm>
          <a:prstGeom prst="roundRect">
            <a:avLst/>
          </a:prstGeom>
          <a:solidFill>
            <a:srgbClr val="142030"/>
          </a:solidFill>
          <a:ln w="12700">
            <a:solidFill>
              <a:srgbClr val="1F2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19" y="2880360"/>
            <a:ext cx="1737360" cy="5943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1F5F9"/>
                </a:solidFill>
                <a:latin typeface="Aptos"/>
              </a:rPr>
              <a:t>SERVICE RECORDS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788920"/>
            <a:ext cx="50292" cy="777240"/>
          </a:xfrm>
          <a:prstGeom prst="rect">
            <a:avLst/>
          </a:prstGeom>
          <a:solidFill>
            <a:srgbClr val="47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1" name="Connector 10"/>
          <p:cNvCxnSpPr/>
          <p:nvPr/>
        </p:nvCxnSpPr>
        <p:spPr>
          <a:xfrm>
            <a:off x="2560320" y="1993392"/>
            <a:ext cx="685800" cy="521208"/>
          </a:xfrm>
          <a:prstGeom prst="line">
            <a:avLst/>
          </a:prstGeom>
          <a:ln w="27940">
            <a:solidFill>
              <a:srgbClr val="31D3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2560320" y="2697480"/>
            <a:ext cx="685800" cy="484632"/>
          </a:xfrm>
          <a:prstGeom prst="line">
            <a:avLst/>
          </a:prstGeom>
          <a:ln w="27940">
            <a:solidFill>
              <a:srgbClr val="479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246120" y="2148840"/>
            <a:ext cx="1828800" cy="960120"/>
          </a:xfrm>
          <a:prstGeom prst="roundRect">
            <a:avLst/>
          </a:prstGeom>
          <a:solidFill>
            <a:srgbClr val="142030"/>
          </a:solidFill>
          <a:ln w="12700">
            <a:solidFill>
              <a:srgbClr val="1F2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337560" y="2240280"/>
            <a:ext cx="16459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1F5F9"/>
                </a:solidFill>
                <a:latin typeface="Aptos"/>
              </a:rPr>
              <a:t>HEALTH
ANALYSIS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46120" y="2148840"/>
            <a:ext cx="50292" cy="960120"/>
          </a:xfrm>
          <a:prstGeom prst="rect">
            <a:avLst/>
          </a:prstGeom>
          <a:solidFill>
            <a:srgbClr val="31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6" name="Connector 15"/>
          <p:cNvCxnSpPr/>
          <p:nvPr/>
        </p:nvCxnSpPr>
        <p:spPr>
          <a:xfrm>
            <a:off x="5074920" y="2633472"/>
            <a:ext cx="640080" cy="0"/>
          </a:xfrm>
          <a:prstGeom prst="line">
            <a:avLst/>
          </a:prstGeom>
          <a:ln w="27940">
            <a:solidFill>
              <a:srgbClr val="31D3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715000" y="2148840"/>
            <a:ext cx="1828800" cy="960120"/>
          </a:xfrm>
          <a:prstGeom prst="roundRect">
            <a:avLst/>
          </a:prstGeom>
          <a:solidFill>
            <a:srgbClr val="142030"/>
          </a:solidFill>
          <a:ln w="12700">
            <a:solidFill>
              <a:srgbClr val="1F2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806440" y="2240280"/>
            <a:ext cx="16459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1F5F9"/>
                </a:solidFill>
                <a:latin typeface="Aptos"/>
              </a:rPr>
              <a:t>READINESS
ENGINE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15000" y="2148840"/>
            <a:ext cx="50292" cy="960120"/>
          </a:xfrm>
          <a:prstGeom prst="rect">
            <a:avLst/>
          </a:prstGeom>
          <a:solidFill>
            <a:srgbClr val="4BC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0" name="Connector 19"/>
          <p:cNvCxnSpPr/>
          <p:nvPr/>
        </p:nvCxnSpPr>
        <p:spPr>
          <a:xfrm>
            <a:off x="7543800" y="2633472"/>
            <a:ext cx="640079" cy="0"/>
          </a:xfrm>
          <a:prstGeom prst="line">
            <a:avLst/>
          </a:prstGeom>
          <a:ln w="27940">
            <a:solidFill>
              <a:srgbClr val="4BCD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183879" y="2148840"/>
            <a:ext cx="1828800" cy="960120"/>
          </a:xfrm>
          <a:prstGeom prst="roundRect">
            <a:avLst/>
          </a:prstGeom>
          <a:solidFill>
            <a:srgbClr val="142030"/>
          </a:solidFill>
          <a:ln w="12700">
            <a:solidFill>
              <a:srgbClr val="1F2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75319" y="2240280"/>
            <a:ext cx="16459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1F5F9"/>
                </a:solidFill>
                <a:latin typeface="Aptos"/>
              </a:rPr>
              <a:t>RISK +
EXPLANATION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83879" y="2148840"/>
            <a:ext cx="50292" cy="960120"/>
          </a:xfrm>
          <a:prstGeom prst="rect">
            <a:avLst/>
          </a:prstGeom>
          <a:solidFill>
            <a:srgbClr val="EF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4" name="Connector 23"/>
          <p:cNvCxnSpPr/>
          <p:nvPr/>
        </p:nvCxnSpPr>
        <p:spPr>
          <a:xfrm>
            <a:off x="10012680" y="2633472"/>
            <a:ext cx="640080" cy="0"/>
          </a:xfrm>
          <a:prstGeom prst="line">
            <a:avLst/>
          </a:prstGeom>
          <a:ln w="27940">
            <a:solidFill>
              <a:srgbClr val="EF5B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10652760" y="2148840"/>
            <a:ext cx="914400" cy="960120"/>
          </a:xfrm>
          <a:prstGeom prst="roundRect">
            <a:avLst/>
          </a:prstGeom>
          <a:solidFill>
            <a:srgbClr val="142030"/>
          </a:solidFill>
          <a:ln w="12700">
            <a:solidFill>
              <a:srgbClr val="1F2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744200" y="2240280"/>
            <a:ext cx="7315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1F5F9"/>
                </a:solidFill>
                <a:latin typeface="Aptos"/>
              </a:rPr>
              <a:t>MAINTENANCE
COPILOT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652760" y="2148840"/>
            <a:ext cx="50292" cy="960120"/>
          </a:xfrm>
          <a:prstGeom prst="rect">
            <a:avLst/>
          </a:prstGeom>
          <a:solidFill>
            <a:srgbClr val="F6B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3246120" y="4160520"/>
            <a:ext cx="8138160" cy="1325880"/>
          </a:xfrm>
          <a:prstGeom prst="roundRect">
            <a:avLst/>
          </a:prstGeom>
          <a:solidFill>
            <a:srgbClr val="0F1825"/>
          </a:solidFill>
          <a:ln w="12700">
            <a:solidFill>
              <a:srgbClr val="1F2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520440" y="4407408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9DABBE"/>
                </a:solidFill>
                <a:latin typeface="Aptos"/>
              </a:rPr>
              <a:t>OUTPUT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0" y="4773168"/>
            <a:ext cx="1051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4BCD7D"/>
                </a:solidFill>
                <a:latin typeface="Aptos"/>
              </a:rPr>
              <a:t>READY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0" y="4773168"/>
            <a:ext cx="1234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F6B743"/>
                </a:solidFill>
                <a:latin typeface="Aptos"/>
              </a:rPr>
              <a:t>CAUTION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52360" y="4773168"/>
            <a:ext cx="1417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EF5B5B"/>
                </a:solidFill>
                <a:latin typeface="Aptos"/>
              </a:rPr>
              <a:t>NOT READY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0" y="5166360"/>
            <a:ext cx="7132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9DABBE"/>
                </a:solidFill>
                <a:latin typeface="Aptos"/>
              </a:rPr>
              <a:t>• sensor health  • component risk  • reasons  • prioritized recommendations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" y="6510528"/>
            <a:ext cx="5486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9DABBE"/>
                </a:solidFill>
                <a:latin typeface="Aptos"/>
              </a:rPr>
              <a:t>CODESTORM  •  MISSIONGUARD AI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09960" y="6473952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DABBE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D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1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1F5F9"/>
                </a:solidFill>
                <a:latin typeface="Aptos"/>
              </a:rPr>
              <a:t>Five core capabilities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9DABBE"/>
                </a:solidFill>
                <a:latin typeface="Aptos"/>
              </a:rPr>
              <a:t>Designed around the questions an operator actually needs answered.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417320"/>
            <a:ext cx="3429000" cy="1965960"/>
          </a:xfrm>
          <a:prstGeom prst="roundRect">
            <a:avLst/>
          </a:prstGeom>
          <a:solidFill>
            <a:srgbClr val="0F1825"/>
          </a:solidFill>
          <a:ln w="12700">
            <a:solidFill>
              <a:srgbClr val="1F2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41247" y="1600200"/>
            <a:ext cx="475488" cy="347472"/>
          </a:xfrm>
          <a:prstGeom prst="roundRect">
            <a:avLst/>
          </a:prstGeom>
          <a:solidFill>
            <a:srgbClr val="31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7" y="1618488"/>
            <a:ext cx="47548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080D16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130552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1F5F9"/>
                </a:solidFill>
                <a:latin typeface="Aptos"/>
              </a:rPr>
              <a:t>Mission Readiness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532888"/>
            <a:ext cx="3063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9DABBE"/>
                </a:solidFill>
                <a:latin typeface="Aptos"/>
              </a:rPr>
              <a:t>A simple overall readiness status built from multiple health indicators.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7407" y="1417320"/>
            <a:ext cx="3429000" cy="1965960"/>
          </a:xfrm>
          <a:prstGeom prst="roundRect">
            <a:avLst/>
          </a:prstGeom>
          <a:solidFill>
            <a:srgbClr val="0F1825"/>
          </a:solidFill>
          <a:ln w="12700">
            <a:solidFill>
              <a:srgbClr val="1F2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590288" y="1600200"/>
            <a:ext cx="475488" cy="347472"/>
          </a:xfrm>
          <a:prstGeom prst="roundRect">
            <a:avLst/>
          </a:prstGeom>
          <a:solidFill>
            <a:srgbClr val="47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90288" y="1618488"/>
            <a:ext cx="47548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080D16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2130552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1F5F9"/>
                </a:solidFill>
                <a:latin typeface="Aptos"/>
              </a:rPr>
              <a:t>Sensor Health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2532888"/>
            <a:ext cx="3063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9DABBE"/>
                </a:solidFill>
                <a:latin typeface="Aptos"/>
              </a:rPr>
              <a:t>Highlights abnormal vibration, temperature, pressure and usage signals.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56448" y="1417320"/>
            <a:ext cx="3429000" cy="1965960"/>
          </a:xfrm>
          <a:prstGeom prst="roundRect">
            <a:avLst/>
          </a:prstGeom>
          <a:solidFill>
            <a:srgbClr val="0F1825"/>
          </a:solidFill>
          <a:ln w="12700">
            <a:solidFill>
              <a:srgbClr val="1F2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339327" y="1600200"/>
            <a:ext cx="475488" cy="347472"/>
          </a:xfrm>
          <a:prstGeom prst="roundRect">
            <a:avLst/>
          </a:prstGeom>
          <a:solidFill>
            <a:srgbClr val="EF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39327" y="1618488"/>
            <a:ext cx="47548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080D16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9327" y="2130552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1F5F9"/>
                </a:solidFill>
                <a:latin typeface="Aptos"/>
              </a:rPr>
              <a:t>Component Risk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9327" y="2532888"/>
            <a:ext cx="3063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9DABBE"/>
                </a:solidFill>
                <a:latin typeface="Aptos"/>
              </a:rPr>
              <a:t>Surfaces the monitored component/system associated with the highest risk.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3749039"/>
            <a:ext cx="3429000" cy="1965960"/>
          </a:xfrm>
          <a:prstGeom prst="roundRect">
            <a:avLst/>
          </a:prstGeom>
          <a:solidFill>
            <a:srgbClr val="0F1825"/>
          </a:solidFill>
          <a:ln w="12700">
            <a:solidFill>
              <a:srgbClr val="1F2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41247" y="3931920"/>
            <a:ext cx="475488" cy="347472"/>
          </a:xfrm>
          <a:prstGeom prst="roundRect">
            <a:avLst/>
          </a:prstGeom>
          <a:solidFill>
            <a:srgbClr val="4BC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1247" y="3950207"/>
            <a:ext cx="47548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080D16"/>
                </a:solidFill>
                <a:latin typeface="Aptos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7" y="4462272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1F5F9"/>
                </a:solidFill>
                <a:latin typeface="Aptos"/>
              </a:rPr>
              <a:t>Explainable WHY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7" y="4864607"/>
            <a:ext cx="3063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9DABBE"/>
                </a:solidFill>
                <a:latin typeface="Aptos"/>
              </a:rPr>
              <a:t>Traces the assessment back to the indicators driving concern.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07407" y="3749039"/>
            <a:ext cx="3429000" cy="1965960"/>
          </a:xfrm>
          <a:prstGeom prst="roundRect">
            <a:avLst/>
          </a:prstGeom>
          <a:solidFill>
            <a:srgbClr val="0F1825"/>
          </a:solidFill>
          <a:ln w="12700">
            <a:solidFill>
              <a:srgbClr val="1F2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4590288" y="3931920"/>
            <a:ext cx="475488" cy="347472"/>
          </a:xfrm>
          <a:prstGeom prst="roundRect">
            <a:avLst/>
          </a:prstGeom>
          <a:solidFill>
            <a:srgbClr val="F6B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90288" y="3950207"/>
            <a:ext cx="47548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080D16"/>
                </a:solidFill>
                <a:latin typeface="Aptos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90288" y="4462272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1F5F9"/>
                </a:solidFill>
                <a:latin typeface="Aptos"/>
              </a:rPr>
              <a:t>Maintenance Copilot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90288" y="4864607"/>
            <a:ext cx="3063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9DABBE"/>
                </a:solidFill>
                <a:latin typeface="Aptos"/>
              </a:rPr>
              <a:t>Converts detected risks into a prioritized decision-support action plan.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407408" y="5486400"/>
            <a:ext cx="3383280" cy="566928"/>
          </a:xfrm>
          <a:prstGeom prst="roundRect">
            <a:avLst/>
          </a:prstGeom>
          <a:solidFill>
            <a:srgbClr val="142030"/>
          </a:solidFill>
          <a:ln w="12700">
            <a:solidFill>
              <a:srgbClr val="1F2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526280" y="5596128"/>
            <a:ext cx="3154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1">
                <a:solidFill>
                  <a:srgbClr val="31D3BE"/>
                </a:solidFill>
                <a:latin typeface="Aptos"/>
              </a:rPr>
              <a:t>WHAT  →  WHY  →  ACTION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" y="6510528"/>
            <a:ext cx="5486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9DABBE"/>
                </a:solidFill>
                <a:latin typeface="Aptos"/>
              </a:rPr>
              <a:t>CODESTORM  •  MISSIONGUARD AI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09960" y="6473952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DABBE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D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1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1F5F9"/>
                </a:solidFill>
                <a:latin typeface="Aptos"/>
              </a:rP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9DABBE"/>
                </a:solidFill>
                <a:latin typeface="Aptos"/>
              </a:rPr>
              <a:t>Lightweight prototype architecture with clear separation of concerns.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1325880" cy="594360"/>
          </a:xfrm>
          <a:prstGeom prst="roundRect">
            <a:avLst/>
          </a:prstGeom>
          <a:solidFill>
            <a:srgbClr val="142030"/>
          </a:solidFill>
          <a:ln w="12700">
            <a:solidFill>
              <a:srgbClr val="1F2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325880"/>
            <a:ext cx="1143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1F5F9"/>
                </a:solidFill>
                <a:latin typeface="Aptos"/>
              </a:rPr>
              <a:t>USER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234440"/>
            <a:ext cx="50292" cy="594360"/>
          </a:xfrm>
          <a:prstGeom prst="rect">
            <a:avLst/>
          </a:prstGeom>
          <a:solidFill>
            <a:srgbClr val="31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2468880" y="1143000"/>
            <a:ext cx="2057400" cy="777240"/>
          </a:xfrm>
          <a:prstGeom prst="roundRect">
            <a:avLst/>
          </a:prstGeom>
          <a:solidFill>
            <a:srgbClr val="142030"/>
          </a:solidFill>
          <a:ln w="12700">
            <a:solidFill>
              <a:srgbClr val="1F2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560320" y="1234440"/>
            <a:ext cx="1874519" cy="5943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1F5F9"/>
                </a:solidFill>
                <a:latin typeface="Aptos"/>
              </a:rPr>
              <a:t>MISSIONGUARD UI
HTML / CSS / JS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68880" y="1143000"/>
            <a:ext cx="50292" cy="777240"/>
          </a:xfrm>
          <a:prstGeom prst="rect">
            <a:avLst/>
          </a:prstGeom>
          <a:solidFill>
            <a:srgbClr val="31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1" name="Connector 10"/>
          <p:cNvCxnSpPr/>
          <p:nvPr/>
        </p:nvCxnSpPr>
        <p:spPr>
          <a:xfrm>
            <a:off x="2057400" y="1536192"/>
            <a:ext cx="411480" cy="0"/>
          </a:xfrm>
          <a:prstGeom prst="line">
            <a:avLst/>
          </a:prstGeom>
          <a:ln w="27940">
            <a:solidFill>
              <a:srgbClr val="31D3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166360" y="1143000"/>
            <a:ext cx="1508760" cy="777240"/>
          </a:xfrm>
          <a:prstGeom prst="roundRect">
            <a:avLst/>
          </a:prstGeom>
          <a:solidFill>
            <a:srgbClr val="142030"/>
          </a:solidFill>
          <a:ln w="12700">
            <a:solidFill>
              <a:srgbClr val="1F2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257800" y="1234440"/>
            <a:ext cx="1325880" cy="5943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1F5F9"/>
                </a:solidFill>
                <a:latin typeface="Aptos"/>
              </a:rPr>
              <a:t>FLASK API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166360" y="1143000"/>
            <a:ext cx="50292" cy="777240"/>
          </a:xfrm>
          <a:prstGeom prst="rect">
            <a:avLst/>
          </a:prstGeom>
          <a:solidFill>
            <a:srgbClr val="47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5" name="Connector 14"/>
          <p:cNvCxnSpPr/>
          <p:nvPr/>
        </p:nvCxnSpPr>
        <p:spPr>
          <a:xfrm>
            <a:off x="4526280" y="1536192"/>
            <a:ext cx="640080" cy="0"/>
          </a:xfrm>
          <a:prstGeom prst="line">
            <a:avLst/>
          </a:prstGeom>
          <a:ln w="27940">
            <a:solidFill>
              <a:srgbClr val="479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60120" y="2743200"/>
            <a:ext cx="1828800" cy="777240"/>
          </a:xfrm>
          <a:prstGeom prst="roundRect">
            <a:avLst/>
          </a:prstGeom>
          <a:solidFill>
            <a:srgbClr val="142030"/>
          </a:solidFill>
          <a:ln w="12700">
            <a:solidFill>
              <a:srgbClr val="1F2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51560" y="2834640"/>
            <a:ext cx="1645920" cy="5943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1F5F9"/>
                </a:solidFill>
                <a:latin typeface="Aptos"/>
              </a:rPr>
              <a:t>SYNTHETIC
SENSOR DATA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60120" y="2743200"/>
            <a:ext cx="50292" cy="777240"/>
          </a:xfrm>
          <a:prstGeom prst="rect">
            <a:avLst/>
          </a:prstGeom>
          <a:solidFill>
            <a:srgbClr val="31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3246120" y="2743200"/>
            <a:ext cx="1828800" cy="777240"/>
          </a:xfrm>
          <a:prstGeom prst="roundRect">
            <a:avLst/>
          </a:prstGeom>
          <a:solidFill>
            <a:srgbClr val="142030"/>
          </a:solidFill>
          <a:ln w="12700">
            <a:solidFill>
              <a:srgbClr val="1F2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337560" y="2834640"/>
            <a:ext cx="1645920" cy="5943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1F5F9"/>
                </a:solidFill>
                <a:latin typeface="Aptos"/>
              </a:rPr>
              <a:t>SERVICE /
MAINTENANCE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46120" y="2743200"/>
            <a:ext cx="50292" cy="777240"/>
          </a:xfrm>
          <a:prstGeom prst="rect">
            <a:avLst/>
          </a:prstGeom>
          <a:solidFill>
            <a:srgbClr val="47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2" name="Connector 21"/>
          <p:cNvCxnSpPr/>
          <p:nvPr/>
        </p:nvCxnSpPr>
        <p:spPr>
          <a:xfrm flipH="1">
            <a:off x="4160520" y="1920240"/>
            <a:ext cx="1737360" cy="822960"/>
          </a:xfrm>
          <a:prstGeom prst="line">
            <a:avLst/>
          </a:prstGeom>
          <a:ln w="27940">
            <a:solidFill>
              <a:srgbClr val="479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1874519" y="1920240"/>
            <a:ext cx="4023361" cy="822960"/>
          </a:xfrm>
          <a:prstGeom prst="line">
            <a:avLst/>
          </a:prstGeom>
          <a:ln w="27940">
            <a:solidFill>
              <a:srgbClr val="31D3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852160" y="2743200"/>
            <a:ext cx="1828800" cy="777240"/>
          </a:xfrm>
          <a:prstGeom prst="roundRect">
            <a:avLst/>
          </a:prstGeom>
          <a:solidFill>
            <a:srgbClr val="142030"/>
          </a:solidFill>
          <a:ln w="12700">
            <a:solidFill>
              <a:srgbClr val="1F2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943600" y="2834640"/>
            <a:ext cx="1645920" cy="5943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1F5F9"/>
                </a:solidFill>
                <a:latin typeface="Aptos"/>
              </a:rPr>
              <a:t>HEALTH ANALYSIS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852160" y="2743200"/>
            <a:ext cx="50292" cy="777240"/>
          </a:xfrm>
          <a:prstGeom prst="rect">
            <a:avLst/>
          </a:prstGeom>
          <a:solidFill>
            <a:srgbClr val="31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8138160" y="2743200"/>
            <a:ext cx="1828800" cy="777240"/>
          </a:xfrm>
          <a:prstGeom prst="roundRect">
            <a:avLst/>
          </a:prstGeom>
          <a:solidFill>
            <a:srgbClr val="142030"/>
          </a:solidFill>
          <a:ln w="12700">
            <a:solidFill>
              <a:srgbClr val="1F2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229600" y="2834640"/>
            <a:ext cx="1645920" cy="5943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1F5F9"/>
                </a:solidFill>
                <a:latin typeface="Aptos"/>
              </a:rPr>
              <a:t>READINESS ENGINE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38160" y="2743200"/>
            <a:ext cx="50292" cy="777240"/>
          </a:xfrm>
          <a:prstGeom prst="rect">
            <a:avLst/>
          </a:prstGeom>
          <a:solidFill>
            <a:srgbClr val="4BC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0" name="Connector 29"/>
          <p:cNvCxnSpPr/>
          <p:nvPr/>
        </p:nvCxnSpPr>
        <p:spPr>
          <a:xfrm>
            <a:off x="5074920" y="3136392"/>
            <a:ext cx="777240" cy="0"/>
          </a:xfrm>
          <a:prstGeom prst="line">
            <a:avLst/>
          </a:prstGeom>
          <a:ln w="27940">
            <a:solidFill>
              <a:srgbClr val="31D3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7680960" y="3136392"/>
            <a:ext cx="457200" cy="0"/>
          </a:xfrm>
          <a:prstGeom prst="line">
            <a:avLst/>
          </a:prstGeom>
          <a:ln w="27940">
            <a:solidFill>
              <a:srgbClr val="4BCD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3977639" y="4251960"/>
            <a:ext cx="1920240" cy="777240"/>
          </a:xfrm>
          <a:prstGeom prst="roundRect">
            <a:avLst/>
          </a:prstGeom>
          <a:solidFill>
            <a:srgbClr val="142030"/>
          </a:solidFill>
          <a:ln w="12700">
            <a:solidFill>
              <a:srgbClr val="1F2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069079" y="4343400"/>
            <a:ext cx="1737360" cy="5943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1F5F9"/>
                </a:solidFill>
                <a:latin typeface="Aptos"/>
              </a:rPr>
              <a:t>RISK +
EXPLAINABILITY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977639" y="4251960"/>
            <a:ext cx="50292" cy="777240"/>
          </a:xfrm>
          <a:prstGeom prst="rect">
            <a:avLst/>
          </a:prstGeom>
          <a:solidFill>
            <a:srgbClr val="EF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6400800" y="4251960"/>
            <a:ext cx="1920240" cy="777240"/>
          </a:xfrm>
          <a:prstGeom prst="roundRect">
            <a:avLst/>
          </a:prstGeom>
          <a:solidFill>
            <a:srgbClr val="142030"/>
          </a:solidFill>
          <a:ln w="12700">
            <a:solidFill>
              <a:srgbClr val="1F2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492240" y="4343400"/>
            <a:ext cx="1737360" cy="5943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1F5F9"/>
                </a:solidFill>
                <a:latin typeface="Aptos"/>
              </a:rPr>
              <a:t>MAINTENANCE
COPILOT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0" y="4251960"/>
            <a:ext cx="50292" cy="777240"/>
          </a:xfrm>
          <a:prstGeom prst="rect">
            <a:avLst/>
          </a:prstGeom>
          <a:solidFill>
            <a:srgbClr val="F6B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8" name="Connector 37"/>
          <p:cNvCxnSpPr/>
          <p:nvPr/>
        </p:nvCxnSpPr>
        <p:spPr>
          <a:xfrm flipH="1">
            <a:off x="4937760" y="3520440"/>
            <a:ext cx="2286000" cy="731520"/>
          </a:xfrm>
          <a:prstGeom prst="line">
            <a:avLst/>
          </a:prstGeom>
          <a:ln w="27940">
            <a:solidFill>
              <a:srgbClr val="EF5B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H="1">
            <a:off x="7360920" y="3520440"/>
            <a:ext cx="1691640" cy="731520"/>
          </a:xfrm>
          <a:prstGeom prst="line">
            <a:avLst/>
          </a:prstGeom>
          <a:ln w="27940">
            <a:solidFill>
              <a:srgbClr val="F6B7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9144000" y="4251960"/>
            <a:ext cx="1828800" cy="777240"/>
          </a:xfrm>
          <a:prstGeom prst="roundRect">
            <a:avLst/>
          </a:prstGeom>
          <a:solidFill>
            <a:srgbClr val="142030"/>
          </a:solidFill>
          <a:ln w="12700">
            <a:solidFill>
              <a:srgbClr val="1F2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35440" y="4343400"/>
            <a:ext cx="1645920" cy="5943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1F5F9"/>
                </a:solidFill>
                <a:latin typeface="Aptos"/>
              </a:rPr>
              <a:t>FINAL READINESS
DECISION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144000" y="4251960"/>
            <a:ext cx="50292" cy="777240"/>
          </a:xfrm>
          <a:prstGeom prst="rect">
            <a:avLst/>
          </a:prstGeom>
          <a:solidFill>
            <a:srgbClr val="4BC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3" name="Connector 42"/>
          <p:cNvCxnSpPr/>
          <p:nvPr/>
        </p:nvCxnSpPr>
        <p:spPr>
          <a:xfrm>
            <a:off x="8321040" y="4645152"/>
            <a:ext cx="822960" cy="0"/>
          </a:xfrm>
          <a:prstGeom prst="line">
            <a:avLst/>
          </a:prstGeom>
          <a:ln w="27940">
            <a:solidFill>
              <a:srgbClr val="4BCD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2011680" y="5669280"/>
            <a:ext cx="8412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9DABBE"/>
                </a:solidFill>
                <a:latin typeface="Aptos"/>
              </a:rPr>
              <a:t>The architecture keeps the decision path auditable: data → analysis → explanation → recommendation.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1792" y="6510528"/>
            <a:ext cx="5486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9DABBE"/>
                </a:solidFill>
                <a:latin typeface="Aptos"/>
              </a:rPr>
              <a:t>CODESTORM  •  MISSIONGUARD AI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109960" y="6473952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DABBE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D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1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1F5F9"/>
                </a:solidFill>
                <a:latin typeface="Aptos"/>
              </a:rPr>
              <a:t>IBM Bob in the development lifecycle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9DABBE"/>
                </a:solidFill>
                <a:latin typeface="Aptos"/>
              </a:rPr>
              <a:t>Bob is positioned as a core development component—not just a code generator.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1417320" cy="777240"/>
          </a:xfrm>
          <a:prstGeom prst="roundRect">
            <a:avLst/>
          </a:prstGeom>
          <a:solidFill>
            <a:srgbClr val="142030"/>
          </a:solidFill>
          <a:ln w="12700">
            <a:solidFill>
              <a:srgbClr val="1F2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920240"/>
            <a:ext cx="1234440" cy="5943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1F5F9"/>
                </a:solidFill>
                <a:latin typeface="Aptos"/>
              </a:rPr>
              <a:t>PLAN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828800"/>
            <a:ext cx="50292" cy="777240"/>
          </a:xfrm>
          <a:prstGeom prst="rect">
            <a:avLst/>
          </a:prstGeom>
          <a:solidFill>
            <a:srgbClr val="31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8" name="Connector 7"/>
          <p:cNvCxnSpPr/>
          <p:nvPr/>
        </p:nvCxnSpPr>
        <p:spPr>
          <a:xfrm>
            <a:off x="2103120" y="2221992"/>
            <a:ext cx="457200" cy="0"/>
          </a:xfrm>
          <a:prstGeom prst="line">
            <a:avLst/>
          </a:prstGeom>
          <a:ln w="27940">
            <a:solidFill>
              <a:srgbClr val="31D3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560320" y="1828800"/>
            <a:ext cx="1417320" cy="777240"/>
          </a:xfrm>
          <a:prstGeom prst="roundRect">
            <a:avLst/>
          </a:prstGeom>
          <a:solidFill>
            <a:srgbClr val="142030"/>
          </a:solidFill>
          <a:ln w="12700">
            <a:solidFill>
              <a:srgbClr val="1F2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651760" y="1920240"/>
            <a:ext cx="1234440" cy="5943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1F5F9"/>
                </a:solidFill>
                <a:latin typeface="Aptos"/>
              </a:rPr>
              <a:t>IMPLEMENT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60320" y="1828800"/>
            <a:ext cx="50292" cy="777240"/>
          </a:xfrm>
          <a:prstGeom prst="rect">
            <a:avLst/>
          </a:prstGeom>
          <a:solidFill>
            <a:srgbClr val="47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2" name="Connector 11"/>
          <p:cNvCxnSpPr/>
          <p:nvPr/>
        </p:nvCxnSpPr>
        <p:spPr>
          <a:xfrm>
            <a:off x="3977639" y="2221992"/>
            <a:ext cx="457201" cy="0"/>
          </a:xfrm>
          <a:prstGeom prst="line">
            <a:avLst/>
          </a:prstGeom>
          <a:ln w="27940">
            <a:solidFill>
              <a:srgbClr val="479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434840" y="1828800"/>
            <a:ext cx="1417320" cy="777240"/>
          </a:xfrm>
          <a:prstGeom prst="roundRect">
            <a:avLst/>
          </a:prstGeom>
          <a:solidFill>
            <a:srgbClr val="142030"/>
          </a:solidFill>
          <a:ln w="12700">
            <a:solidFill>
              <a:srgbClr val="1F2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26279" y="1920240"/>
            <a:ext cx="1234440" cy="5943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1F5F9"/>
                </a:solidFill>
                <a:latin typeface="Aptos"/>
              </a:rPr>
              <a:t>DEBUG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34840" y="1828800"/>
            <a:ext cx="50292" cy="777240"/>
          </a:xfrm>
          <a:prstGeom prst="rect">
            <a:avLst/>
          </a:prstGeom>
          <a:solidFill>
            <a:srgbClr val="EF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6" name="Connector 15"/>
          <p:cNvCxnSpPr/>
          <p:nvPr/>
        </p:nvCxnSpPr>
        <p:spPr>
          <a:xfrm>
            <a:off x="5852159" y="2221992"/>
            <a:ext cx="457200" cy="0"/>
          </a:xfrm>
          <a:prstGeom prst="line">
            <a:avLst/>
          </a:prstGeom>
          <a:ln w="27940">
            <a:solidFill>
              <a:srgbClr val="EF5B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309359" y="1828800"/>
            <a:ext cx="1417320" cy="777240"/>
          </a:xfrm>
          <a:prstGeom prst="roundRect">
            <a:avLst/>
          </a:prstGeom>
          <a:solidFill>
            <a:srgbClr val="142030"/>
          </a:solidFill>
          <a:ln w="12700">
            <a:solidFill>
              <a:srgbClr val="1F2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799" y="1920240"/>
            <a:ext cx="1234440" cy="5943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1F5F9"/>
                </a:solidFill>
                <a:latin typeface="Aptos"/>
              </a:rPr>
              <a:t>REVIEW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59" y="1828800"/>
            <a:ext cx="50292" cy="777240"/>
          </a:xfrm>
          <a:prstGeom prst="rect">
            <a:avLst/>
          </a:prstGeom>
          <a:solidFill>
            <a:srgbClr val="4BC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0" name="Connector 19"/>
          <p:cNvCxnSpPr/>
          <p:nvPr/>
        </p:nvCxnSpPr>
        <p:spPr>
          <a:xfrm>
            <a:off x="7726679" y="2221992"/>
            <a:ext cx="457200" cy="0"/>
          </a:xfrm>
          <a:prstGeom prst="line">
            <a:avLst/>
          </a:prstGeom>
          <a:ln w="27940">
            <a:solidFill>
              <a:srgbClr val="4BCD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183879" y="1828800"/>
            <a:ext cx="1417320" cy="777240"/>
          </a:xfrm>
          <a:prstGeom prst="roundRect">
            <a:avLst/>
          </a:prstGeom>
          <a:solidFill>
            <a:srgbClr val="142030"/>
          </a:solidFill>
          <a:ln w="12700">
            <a:solidFill>
              <a:srgbClr val="1F2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75319" y="1920240"/>
            <a:ext cx="1234440" cy="5943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1F5F9"/>
                </a:solidFill>
                <a:latin typeface="Aptos"/>
              </a:rPr>
              <a:t>TEST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83879" y="1828800"/>
            <a:ext cx="50292" cy="777240"/>
          </a:xfrm>
          <a:prstGeom prst="rect">
            <a:avLst/>
          </a:prstGeom>
          <a:solidFill>
            <a:srgbClr val="F6B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4" name="Connector 23"/>
          <p:cNvCxnSpPr/>
          <p:nvPr/>
        </p:nvCxnSpPr>
        <p:spPr>
          <a:xfrm>
            <a:off x="9601200" y="2221992"/>
            <a:ext cx="457200" cy="0"/>
          </a:xfrm>
          <a:prstGeom prst="line">
            <a:avLst/>
          </a:prstGeom>
          <a:ln w="27940">
            <a:solidFill>
              <a:srgbClr val="F6B7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10058400" y="1828800"/>
            <a:ext cx="1417320" cy="777240"/>
          </a:xfrm>
          <a:prstGeom prst="roundRect">
            <a:avLst/>
          </a:prstGeom>
          <a:solidFill>
            <a:srgbClr val="142030"/>
          </a:solidFill>
          <a:ln w="12700">
            <a:solidFill>
              <a:srgbClr val="1F2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149840" y="1920240"/>
            <a:ext cx="1234440" cy="5943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1F5F9"/>
                </a:solidFill>
                <a:latin typeface="Aptos"/>
              </a:rPr>
              <a:t>DOCUMENT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058400" y="1828800"/>
            <a:ext cx="50292" cy="777240"/>
          </a:xfrm>
          <a:prstGeom prst="rect">
            <a:avLst/>
          </a:prstGeom>
          <a:solidFill>
            <a:srgbClr val="31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777240" y="3794760"/>
            <a:ext cx="3383280" cy="713232"/>
          </a:xfrm>
          <a:prstGeom prst="roundRect">
            <a:avLst/>
          </a:prstGeom>
          <a:solidFill>
            <a:srgbClr val="0F1825"/>
          </a:solidFill>
          <a:ln w="12700">
            <a:solidFill>
              <a:srgbClr val="1F2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41832" y="3950208"/>
            <a:ext cx="30175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F1F5F9"/>
                </a:solidFill>
                <a:latin typeface="Aptos"/>
              </a:rPr>
              <a:t>Project &amp; architecture planning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26279" y="3794760"/>
            <a:ext cx="3383280" cy="713232"/>
          </a:xfrm>
          <a:prstGeom prst="roundRect">
            <a:avLst/>
          </a:prstGeom>
          <a:solidFill>
            <a:srgbClr val="0F1825"/>
          </a:solidFill>
          <a:ln w="12700">
            <a:solidFill>
              <a:srgbClr val="1F2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690871" y="3950208"/>
            <a:ext cx="30175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F1F5F9"/>
                </a:solidFill>
                <a:latin typeface="Aptos"/>
              </a:rPr>
              <a:t>Code implementation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75319" y="3794760"/>
            <a:ext cx="3383280" cy="713232"/>
          </a:xfrm>
          <a:prstGeom prst="roundRect">
            <a:avLst/>
          </a:prstGeom>
          <a:solidFill>
            <a:srgbClr val="0F1825"/>
          </a:solidFill>
          <a:ln w="12700">
            <a:solidFill>
              <a:srgbClr val="1F2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439911" y="3950208"/>
            <a:ext cx="30175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F1F5F9"/>
                </a:solidFill>
                <a:latin typeface="Aptos"/>
              </a:rPr>
              <a:t>Debugging and refactoring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77240" y="4754880"/>
            <a:ext cx="3383280" cy="713232"/>
          </a:xfrm>
          <a:prstGeom prst="roundRect">
            <a:avLst/>
          </a:prstGeom>
          <a:solidFill>
            <a:srgbClr val="0F1825"/>
          </a:solidFill>
          <a:ln w="12700">
            <a:solidFill>
              <a:srgbClr val="1F2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41832" y="4910328"/>
            <a:ext cx="30175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F1F5F9"/>
                </a:solidFill>
                <a:latin typeface="Aptos"/>
              </a:rPr>
              <a:t>Code review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26279" y="4754880"/>
            <a:ext cx="3383280" cy="713232"/>
          </a:xfrm>
          <a:prstGeom prst="roundRect">
            <a:avLst/>
          </a:prstGeom>
          <a:solidFill>
            <a:srgbClr val="0F1825"/>
          </a:solidFill>
          <a:ln w="12700">
            <a:solidFill>
              <a:srgbClr val="1F2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690871" y="4910328"/>
            <a:ext cx="30175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F1F5F9"/>
                </a:solidFill>
                <a:latin typeface="Aptos"/>
              </a:rPr>
              <a:t>Test creation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275319" y="4754880"/>
            <a:ext cx="3383280" cy="713232"/>
          </a:xfrm>
          <a:prstGeom prst="roundRect">
            <a:avLst/>
          </a:prstGeom>
          <a:solidFill>
            <a:srgbClr val="0F1825"/>
          </a:solidFill>
          <a:ln w="12700">
            <a:solidFill>
              <a:srgbClr val="1F2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39911" y="4910328"/>
            <a:ext cx="30175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F1F5F9"/>
                </a:solidFill>
                <a:latin typeface="Aptos"/>
              </a:rPr>
              <a:t>Documentation + workflow improvement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828800" y="5806440"/>
            <a:ext cx="8503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31D3BE"/>
                </a:solidFill>
                <a:latin typeface="Aptos"/>
              </a:rPr>
              <a:t>Evidence matters: maintain the required Bob task-session evidence for judging.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1792" y="6510528"/>
            <a:ext cx="5486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9DABBE"/>
                </a:solidFill>
                <a:latin typeface="Aptos"/>
              </a:rPr>
              <a:t>CODESTORM  •  MISSIONGUARD AI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109960" y="6473952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DABBE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D16"/>
        </a:solidFill>
        <a:effectLst/>
      </p:bgPr>
    </p:bg>
    <p:spTree>
      <p:sp>
        <p:nvSpPr>
          <p:cNvPr id="1" name="TextBox 0"/>
          <p:cNvSpPr txBox="1"/>
          <p:nvPr/>
        </p:nvSpPr>
        <p:spPr>
          <a:xfrm>
            <a:off x="566928" y="530352"/>
            <a:ext cx="1060704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600" b="1">
                <a:solidFill>
                  <a:srgbClr val="F5F7FA"/>
                </a:solidFill>
                <a:latin typeface="Aptos"/>
              </a:rPr>
              <a:t>Working prototype: Mission Overview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566928" y="1005840"/>
            <a:ext cx="1060704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50" b="0">
                <a:solidFill>
                  <a:srgbClr val="97A6B9"/>
                </a:solidFill>
                <a:latin typeface="Aptos"/>
              </a:rPr>
              <a:t>Actual running application — synthetic demonstration data, as shown in the prototype.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63040"/>
            <a:ext cx="10808208" cy="4892040"/>
          </a:xfrm>
          <a:prstGeom prst="roundRect">
            <a:avLst/>
          </a:prstGeom>
          <a:solidFill>
            <a:srgbClr val="0F1928"/>
          </a:solidFill>
          <a:ln w="12700">
            <a:solidFill>
              <a:srgbClr val="2A3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1-home-dashboard.p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" y="1499616"/>
            <a:ext cx="10735056" cy="481888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9808" y="1554480"/>
            <a:ext cx="20116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00" b="1">
                <a:solidFill>
                  <a:srgbClr val="2CD3C2"/>
                </a:solidFill>
                <a:latin typeface="Aptos"/>
              </a:rPr>
              <a:t>LIVE APPLICATION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56248"/>
            <a:ext cx="365760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750" b="0">
                <a:solidFill>
                  <a:srgbClr val="919DAF"/>
                </a:solidFill>
                <a:latin typeface="Aptos"/>
              </a:rPr>
              <a:t>CODESTORM  •  MISSIONGUARD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69880" y="6556248"/>
            <a:ext cx="32004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750" b="0">
                <a:solidFill>
                  <a:srgbClr val="919DAF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D16"/>
        </a:solidFill>
        <a:effectLst/>
      </p:bgPr>
    </p:bg>
    <p:spTree>
      <p:sp>
        <p:nvSpPr>
          <p:cNvPr id="1" name="TextBox 0"/>
          <p:cNvSpPr txBox="1"/>
          <p:nvPr/>
        </p:nvSpPr>
        <p:spPr>
          <a:xfrm>
            <a:off x="566928" y="530352"/>
            <a:ext cx="1060704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600" b="1">
                <a:solidFill>
                  <a:srgbClr val="F5F7FA"/>
                </a:solidFill>
                <a:latin typeface="Aptos"/>
              </a:rPr>
              <a:t>Working prototype: Explainable asset decision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566928" y="1005840"/>
            <a:ext cx="1060704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50" b="0">
                <a:solidFill>
                  <a:srgbClr val="97A6B9"/>
                </a:solidFill>
                <a:latin typeface="Aptos"/>
              </a:rPr>
              <a:t>One asset → readiness → contributing issues → recommended maintenance action.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44752"/>
            <a:ext cx="6720840" cy="3703320"/>
          </a:xfrm>
          <a:prstGeom prst="roundRect">
            <a:avLst/>
          </a:prstGeom>
          <a:solidFill>
            <a:srgbClr val="0F1928"/>
          </a:solidFill>
          <a:ln w="12700">
            <a:solidFill>
              <a:srgbClr val="2A3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2-asset-readiness.p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" y="1481328"/>
            <a:ext cx="6647688" cy="363016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9808" y="1545336"/>
            <a:ext cx="164592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00" b="1">
                <a:solidFill>
                  <a:srgbClr val="2CD3C2"/>
                </a:solidFill>
                <a:latin typeface="Aptos"/>
              </a:rPr>
              <a:t>ASSET READINESS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24927" y="1444752"/>
            <a:ext cx="3931920" cy="3703320"/>
          </a:xfrm>
          <a:prstGeom prst="roundRect">
            <a:avLst/>
          </a:prstGeom>
          <a:solidFill>
            <a:srgbClr val="0F1928"/>
          </a:solidFill>
          <a:ln w="12700">
            <a:solidFill>
              <a:srgbClr val="2A3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3-asset-details.png (2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1504" y="1481328"/>
            <a:ext cx="3858768" cy="363016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26096" y="1545336"/>
            <a:ext cx="146304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00" b="1">
                <a:solidFill>
                  <a:srgbClr val="2CD3C2"/>
                </a:solidFill>
                <a:latin typeface="Aptos"/>
              </a:rPr>
              <a:t>WHY + ACTION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5358384"/>
            <a:ext cx="10808208" cy="960120"/>
          </a:xfrm>
          <a:prstGeom prst="roundRect">
            <a:avLst/>
          </a:prstGeom>
          <a:solidFill>
            <a:srgbClr val="0F1928"/>
          </a:solidFill>
          <a:ln w="12700">
            <a:solidFill>
              <a:srgbClr val="2534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559552"/>
            <a:ext cx="2057400" cy="2468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500" b="1">
                <a:solidFill>
                  <a:srgbClr val="F5F7FA"/>
                </a:solidFill>
                <a:latin typeface="Aptos"/>
              </a:rPr>
              <a:t>A002 — Engine Bravo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5559552"/>
            <a:ext cx="1280160" cy="2468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400" b="1">
                <a:solidFill>
                  <a:srgbClr val="FF5B5B"/>
                </a:solidFill>
                <a:latin typeface="Aptos"/>
              </a:rPr>
              <a:t>NOT READY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0832" y="5559552"/>
            <a:ext cx="2148840" cy="2468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300" b="1">
                <a:solidFill>
                  <a:srgbClr val="FFBE44"/>
                </a:solidFill>
                <a:latin typeface="Aptos"/>
              </a:rPr>
              <a:t>HIGH RISK  •  100 / 100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5532120"/>
            <a:ext cx="4343400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50" b="0">
                <a:solidFill>
                  <a:srgbClr val="B7C2D1"/>
                </a:solidFill>
                <a:latin typeface="Aptos"/>
              </a:rPr>
              <a:t>Why: vibration + temperature + pressure + overdue service + accumulated usage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556248"/>
            <a:ext cx="365760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750" b="0">
                <a:solidFill>
                  <a:srgbClr val="919DAF"/>
                </a:solidFill>
                <a:latin typeface="Aptos"/>
              </a:rPr>
              <a:t>CODESTORM  •  MISSIONGUARD 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69880" y="6556248"/>
            <a:ext cx="32004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750" b="0">
                <a:solidFill>
                  <a:srgbClr val="919DAF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D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1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1F5F9"/>
                </a:solidFill>
                <a:latin typeface="Aptos"/>
              </a:rPr>
              <a:t>Why MissionGuard stands 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9DABBE"/>
                </a:solidFill>
                <a:latin typeface="Aptos"/>
              </a:rPr>
              <a:t>The differentiator is not another dashboard—it is the decision chain.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5074920" cy="4343400"/>
          </a:xfrm>
          <a:prstGeom prst="roundRect">
            <a:avLst/>
          </a:prstGeom>
          <a:solidFill>
            <a:srgbClr val="0F1825"/>
          </a:solidFill>
          <a:ln w="12700">
            <a:solidFill>
              <a:srgbClr val="1F2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737360"/>
            <a:ext cx="4480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9DABBE"/>
                </a:solidFill>
                <a:latin typeface="Aptos"/>
              </a:rPr>
              <a:t>TRADITIONAL MONITORING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965960" y="2331720"/>
            <a:ext cx="2468880" cy="658368"/>
          </a:xfrm>
          <a:prstGeom prst="roundRect">
            <a:avLst/>
          </a:prstGeom>
          <a:solidFill>
            <a:srgbClr val="142030"/>
          </a:solidFill>
          <a:ln w="12700">
            <a:solidFill>
              <a:srgbClr val="1F2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057400" y="2423160"/>
            <a:ext cx="228600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1F5F9"/>
                </a:solidFill>
                <a:latin typeface="Aptos"/>
              </a:rPr>
              <a:t>SENSOR DATA</a:t>
            </a:r>
          </a:p>
        </p:txBody>
      </p:sp>
      <p:sp>
        <p:nvSpPr>
          <p:cNvPr id="9" name="Rectangle 8"/>
          <p:cNvSpPr/>
          <p:nvPr/>
        </p:nvSpPr>
        <p:spPr>
          <a:xfrm>
            <a:off x="1965960" y="2331720"/>
            <a:ext cx="50292" cy="658368"/>
          </a:xfrm>
          <a:prstGeom prst="rect">
            <a:avLst/>
          </a:prstGeom>
          <a:solidFill>
            <a:srgbClr val="9DA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0" name="Connector 9"/>
          <p:cNvCxnSpPr/>
          <p:nvPr/>
        </p:nvCxnSpPr>
        <p:spPr>
          <a:xfrm>
            <a:off x="3200400" y="2990088"/>
            <a:ext cx="0" cy="438912"/>
          </a:xfrm>
          <a:prstGeom prst="line">
            <a:avLst/>
          </a:prstGeom>
          <a:ln w="27940">
            <a:solidFill>
              <a:srgbClr val="9DAB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1965960" y="3429000"/>
            <a:ext cx="2468880" cy="658368"/>
          </a:xfrm>
          <a:prstGeom prst="roundRect">
            <a:avLst/>
          </a:prstGeom>
          <a:solidFill>
            <a:srgbClr val="142030"/>
          </a:solidFill>
          <a:ln w="12700">
            <a:solidFill>
              <a:srgbClr val="1F2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057400" y="3520440"/>
            <a:ext cx="228600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1F5F9"/>
                </a:solidFill>
                <a:latin typeface="Aptos"/>
              </a:rPr>
              <a:t>NUMBERS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65960" y="3429000"/>
            <a:ext cx="50292" cy="658368"/>
          </a:xfrm>
          <a:prstGeom prst="rect">
            <a:avLst/>
          </a:prstGeom>
          <a:solidFill>
            <a:srgbClr val="9DA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4" name="Connector 13"/>
          <p:cNvCxnSpPr/>
          <p:nvPr/>
        </p:nvCxnSpPr>
        <p:spPr>
          <a:xfrm>
            <a:off x="3200400" y="4087368"/>
            <a:ext cx="0" cy="438912"/>
          </a:xfrm>
          <a:prstGeom prst="line">
            <a:avLst/>
          </a:prstGeom>
          <a:ln w="27940">
            <a:solidFill>
              <a:srgbClr val="9DAB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600200" y="4526280"/>
            <a:ext cx="3200400" cy="658368"/>
          </a:xfrm>
          <a:prstGeom prst="roundRect">
            <a:avLst/>
          </a:prstGeom>
          <a:solidFill>
            <a:srgbClr val="142030"/>
          </a:solidFill>
          <a:ln w="12700">
            <a:solidFill>
              <a:srgbClr val="1F2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691640" y="4617720"/>
            <a:ext cx="301752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1F5F9"/>
                </a:solidFill>
                <a:latin typeface="Aptos"/>
              </a:rPr>
              <a:t>HUMAN INTERPRETATION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600200" y="4526280"/>
            <a:ext cx="50292" cy="658368"/>
          </a:xfrm>
          <a:prstGeom prst="rect">
            <a:avLst/>
          </a:prstGeom>
          <a:solidFill>
            <a:srgbClr val="9DA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080760" y="1417320"/>
            <a:ext cx="5394960" cy="4343400"/>
          </a:xfrm>
          <a:prstGeom prst="roundRect">
            <a:avLst/>
          </a:prstGeom>
          <a:solidFill>
            <a:srgbClr val="0F1825"/>
          </a:solidFill>
          <a:ln w="12700">
            <a:solidFill>
              <a:srgbClr val="1F2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55080" y="1737360"/>
            <a:ext cx="4663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1D3BE"/>
                </a:solidFill>
                <a:latin typeface="Aptos"/>
              </a:rPr>
              <a:t>MISSIONGUARD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0" y="2148840"/>
            <a:ext cx="2926080" cy="594360"/>
          </a:xfrm>
          <a:prstGeom prst="roundRect">
            <a:avLst/>
          </a:prstGeom>
          <a:solidFill>
            <a:srgbClr val="142030"/>
          </a:solidFill>
          <a:ln w="12700">
            <a:solidFill>
              <a:srgbClr val="1F2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406640" y="2240280"/>
            <a:ext cx="2743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1F5F9"/>
                </a:solidFill>
                <a:latin typeface="Aptos"/>
              </a:rPr>
              <a:t>SENSOR + SERVICE DATA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0" y="2148840"/>
            <a:ext cx="50292" cy="594360"/>
          </a:xfrm>
          <a:prstGeom prst="rect">
            <a:avLst/>
          </a:prstGeom>
          <a:solidFill>
            <a:srgbClr val="31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3" name="Connector 22"/>
          <p:cNvCxnSpPr/>
          <p:nvPr/>
        </p:nvCxnSpPr>
        <p:spPr>
          <a:xfrm>
            <a:off x="8778240" y="2743200"/>
            <a:ext cx="0" cy="384048"/>
          </a:xfrm>
          <a:prstGeom prst="line">
            <a:avLst/>
          </a:prstGeom>
          <a:ln w="27940">
            <a:solidFill>
              <a:srgbClr val="31D3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949440" y="3127248"/>
            <a:ext cx="3657600" cy="594360"/>
          </a:xfrm>
          <a:prstGeom prst="roundRect">
            <a:avLst/>
          </a:prstGeom>
          <a:solidFill>
            <a:srgbClr val="142030"/>
          </a:solidFill>
          <a:ln w="12700">
            <a:solidFill>
              <a:srgbClr val="1F2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040879" y="3218688"/>
            <a:ext cx="34747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1F5F9"/>
                </a:solidFill>
                <a:latin typeface="Aptos"/>
              </a:rPr>
              <a:t>WHAT?  •  READINESS / RISK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949440" y="3127248"/>
            <a:ext cx="50292" cy="594360"/>
          </a:xfrm>
          <a:prstGeom prst="rect">
            <a:avLst/>
          </a:prstGeom>
          <a:solidFill>
            <a:srgbClr val="4BC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7" name="Connector 26"/>
          <p:cNvCxnSpPr/>
          <p:nvPr/>
        </p:nvCxnSpPr>
        <p:spPr>
          <a:xfrm>
            <a:off x="8778240" y="3721608"/>
            <a:ext cx="0" cy="384048"/>
          </a:xfrm>
          <a:prstGeom prst="line">
            <a:avLst/>
          </a:prstGeom>
          <a:ln w="27940">
            <a:solidFill>
              <a:srgbClr val="EF5B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6949440" y="4105656"/>
            <a:ext cx="3657600" cy="594360"/>
          </a:xfrm>
          <a:prstGeom prst="roundRect">
            <a:avLst/>
          </a:prstGeom>
          <a:solidFill>
            <a:srgbClr val="142030"/>
          </a:solidFill>
          <a:ln w="12700">
            <a:solidFill>
              <a:srgbClr val="1F2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040879" y="4197096"/>
            <a:ext cx="34747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1F5F9"/>
                </a:solidFill>
                <a:latin typeface="Aptos"/>
              </a:rPr>
              <a:t>WHY?  •  EXPLANATION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949440" y="4105656"/>
            <a:ext cx="50292" cy="594360"/>
          </a:xfrm>
          <a:prstGeom prst="rect">
            <a:avLst/>
          </a:prstGeom>
          <a:solidFill>
            <a:srgbClr val="EF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1" name="Connector 30"/>
          <p:cNvCxnSpPr/>
          <p:nvPr/>
        </p:nvCxnSpPr>
        <p:spPr>
          <a:xfrm>
            <a:off x="8778240" y="4700016"/>
            <a:ext cx="0" cy="384048"/>
          </a:xfrm>
          <a:prstGeom prst="line">
            <a:avLst/>
          </a:prstGeom>
          <a:ln w="27940">
            <a:solidFill>
              <a:srgbClr val="F6B7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6949440" y="5084064"/>
            <a:ext cx="3657600" cy="594360"/>
          </a:xfrm>
          <a:prstGeom prst="roundRect">
            <a:avLst/>
          </a:prstGeom>
          <a:solidFill>
            <a:srgbClr val="142030"/>
          </a:solidFill>
          <a:ln w="12700">
            <a:solidFill>
              <a:srgbClr val="1F2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040879" y="5175503"/>
            <a:ext cx="34747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1F5F9"/>
                </a:solidFill>
                <a:latin typeface="Aptos"/>
              </a:rPr>
              <a:t>ACTION?  •  PRIORITY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949440" y="5084064"/>
            <a:ext cx="50292" cy="594360"/>
          </a:xfrm>
          <a:prstGeom prst="rect">
            <a:avLst/>
          </a:prstGeom>
          <a:solidFill>
            <a:srgbClr val="F6B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828800" y="5989320"/>
            <a:ext cx="8503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1">
                <a:solidFill>
                  <a:srgbClr val="31D3BE"/>
                </a:solidFill>
                <a:latin typeface="Aptos"/>
              </a:rPr>
              <a:t>Readiness + component risk + explainability + action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792" y="6510528"/>
            <a:ext cx="5486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9DABBE"/>
                </a:solidFill>
                <a:latin typeface="Aptos"/>
              </a:rPr>
              <a:t>CODESTORM  •  MISSIONGUARD AI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09960" y="6473952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DABBE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D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1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1F5F9"/>
                </a:solidFill>
                <a:latin typeface="Aptos"/>
              </a:rPr>
              <a:t>Trust, limits &amp; 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9DABBE"/>
                </a:solidFill>
                <a:latin typeface="Aptos"/>
              </a:rPr>
              <a:t>Credibility is part of the product.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5303520" cy="4892040"/>
          </a:xfrm>
          <a:prstGeom prst="roundRect">
            <a:avLst/>
          </a:prstGeom>
          <a:solidFill>
            <a:srgbClr val="0F1825"/>
          </a:solidFill>
          <a:ln w="12700">
            <a:solidFill>
              <a:srgbClr val="1F2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480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6B743"/>
                </a:solidFill>
                <a:latin typeface="Aptos"/>
              </a:rPr>
              <a:t>PROTOTYPE GUARDRAILS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50">
                <a:solidFill>
                  <a:srgbClr val="F1F5F9"/>
                </a:solidFill>
                <a:latin typeface="Aptos"/>
              </a:defRPr>
            </a:pPr>
            <a:r>
              <a:rPr>
                <a:solidFill>
                  <a:srgbClr val="F6B743"/>
                </a:solidFill>
              </a:rPr>
              <a:t>▸  Synthetic demonstration data only.</a:t>
            </a:r>
          </a:p>
          <a:p>
            <a:pPr>
              <a:spcAft>
                <a:spcPts val="800"/>
              </a:spcAft>
              <a:defRPr sz="1250">
                <a:solidFill>
                  <a:srgbClr val="F1F5F9"/>
                </a:solidFill>
                <a:latin typeface="Aptos"/>
              </a:defRPr>
            </a:pPr>
            <a:r>
              <a:rPr>
                <a:solidFill>
                  <a:srgbClr val="F6B743"/>
                </a:solidFill>
              </a:rPr>
              <a:t>▸  Sensor thresholds are prototype assumptions.</a:t>
            </a:r>
          </a:p>
          <a:p>
            <a:pPr>
              <a:spcAft>
                <a:spcPts val="800"/>
              </a:spcAft>
              <a:defRPr sz="1250">
                <a:solidFill>
                  <a:srgbClr val="F1F5F9"/>
                </a:solidFill>
                <a:latin typeface="Aptos"/>
              </a:defRPr>
            </a:pPr>
            <a:r>
              <a:rPr>
                <a:solidFill>
                  <a:srgbClr val="F6B743"/>
                </a:solidFill>
              </a:rPr>
              <a:t>▸  Real deployment needs validated historical datasets.</a:t>
            </a:r>
          </a:p>
          <a:p>
            <a:pPr>
              <a:spcAft>
                <a:spcPts val="800"/>
              </a:spcAft>
              <a:defRPr sz="1250">
                <a:solidFill>
                  <a:srgbClr val="F1F5F9"/>
                </a:solidFill>
                <a:latin typeface="Aptos"/>
              </a:defRPr>
            </a:pPr>
            <a:r>
              <a:rPr>
                <a:solidFill>
                  <a:srgbClr val="F6B743"/>
                </a:solidFill>
              </a:rPr>
              <a:t>▸  Failure predictions require validation against actual outcomes.</a:t>
            </a:r>
          </a:p>
          <a:p>
            <a:pPr>
              <a:spcAft>
                <a:spcPts val="800"/>
              </a:spcAft>
              <a:defRPr sz="1250">
                <a:solidFill>
                  <a:srgbClr val="F1F5F9"/>
                </a:solidFill>
                <a:latin typeface="Aptos"/>
              </a:defRPr>
            </a:pPr>
            <a:r>
              <a:rPr>
                <a:solidFill>
                  <a:srgbClr val="F6B743"/>
                </a:solidFill>
              </a:rPr>
              <a:t>▸  Recommendations are decision-support suggestions.</a:t>
            </a:r>
          </a:p>
          <a:p>
            <a:pPr>
              <a:spcAft>
                <a:spcPts val="800"/>
              </a:spcAft>
              <a:defRPr sz="1250">
                <a:solidFill>
                  <a:srgbClr val="F1F5F9"/>
                </a:solidFill>
                <a:latin typeface="Aptos"/>
              </a:defRPr>
            </a:pPr>
            <a:r>
              <a:rPr>
                <a:solidFill>
                  <a:srgbClr val="F6B743"/>
                </a:solidFill>
              </a:rPr>
              <a:t>▸  Production requires security, monitoring, domain validation and expert review.</a:t>
            </a:r>
          </a:p>
          <a:p>
            <a:pPr>
              <a:spcAft>
                <a:spcPts val="800"/>
              </a:spcAft>
              <a:defRPr sz="1250">
                <a:solidFill>
                  <a:srgbClr val="F1F5F9"/>
                </a:solidFill>
                <a:latin typeface="Aptos"/>
              </a:defRPr>
            </a:pPr>
            <a:r>
              <a:rPr>
                <a:solidFill>
                  <a:srgbClr val="F6B743"/>
                </a:solidFill>
              </a:rPr>
              <a:t>▸  Not a replacement for qualified maintenance or operational decision-makers.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25880"/>
            <a:ext cx="5303520" cy="4892040"/>
          </a:xfrm>
          <a:prstGeom prst="roundRect">
            <a:avLst/>
          </a:prstGeom>
          <a:solidFill>
            <a:srgbClr val="0F1825"/>
          </a:solidFill>
          <a:ln w="12700">
            <a:solidFill>
              <a:srgbClr val="1F2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92240" y="1645920"/>
            <a:ext cx="4480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1D3BE"/>
                </a:solidFill>
                <a:latin typeface="Aptos"/>
              </a:rPr>
              <a:t>FUTURE SCOPE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2148840"/>
            <a:ext cx="1234440" cy="347472"/>
          </a:xfrm>
          <a:prstGeom prst="roundRect">
            <a:avLst/>
          </a:prstGeom>
          <a:solidFill>
            <a:srgbClr val="47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92240" y="2167128"/>
            <a:ext cx="12344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080D16"/>
                </a:solidFill>
                <a:latin typeface="Aptos"/>
              </a:rPr>
              <a:t>BETTER 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79" y="2167128"/>
            <a:ext cx="30175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F1F5F9"/>
                </a:solidFill>
                <a:latin typeface="Aptos"/>
              </a:rPr>
              <a:t>Validated predictive models • anomaly detection • RUL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92240" y="3044952"/>
            <a:ext cx="1234440" cy="347472"/>
          </a:xfrm>
          <a:prstGeom prst="roundRect">
            <a:avLst/>
          </a:prstGeom>
          <a:solidFill>
            <a:srgbClr val="4BC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92240" y="3063240"/>
            <a:ext cx="12344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080D16"/>
                </a:solidFill>
                <a:latin typeface="Aptos"/>
              </a:rPr>
              <a:t>BETTER 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79" y="3063240"/>
            <a:ext cx="30175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F1F5F9"/>
                </a:solidFill>
                <a:latin typeface="Aptos"/>
              </a:rPr>
              <a:t>Historical datasets • real-time streams • more indicators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92240" y="3941064"/>
            <a:ext cx="1234440" cy="347472"/>
          </a:xfrm>
          <a:prstGeom prst="roundRect">
            <a:avLst/>
          </a:prstGeom>
          <a:solidFill>
            <a:srgbClr val="F6B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92240" y="3959352"/>
            <a:ext cx="12344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080D16"/>
                </a:solidFill>
                <a:latin typeface="Aptos"/>
              </a:rPr>
              <a:t>BETTER COPILOT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79" y="3959352"/>
            <a:ext cx="30175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F1F5F9"/>
                </a:solidFill>
                <a:latin typeface="Aptos"/>
              </a:rPr>
              <a:t>Natural-language Q&amp;A • what-if analysis • history summaries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92240" y="4837176"/>
            <a:ext cx="1234440" cy="347472"/>
          </a:xfrm>
          <a:prstGeom prst="roundRect">
            <a:avLst/>
          </a:prstGeom>
          <a:solidFill>
            <a:srgbClr val="31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92240" y="4855464"/>
            <a:ext cx="12344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080D16"/>
                </a:solidFill>
                <a:latin typeface="Aptos"/>
              </a:rPr>
              <a:t>ENTERPRISE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4855464"/>
            <a:ext cx="30175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F1F5F9"/>
                </a:solidFill>
                <a:latin typeface="Aptos"/>
              </a:rPr>
              <a:t>Authentication • RBAC • audit logs • alerts • integrations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5532120"/>
            <a:ext cx="4480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EF5B5B"/>
                </a:solidFill>
                <a:latin typeface="Aptos"/>
              </a:rPr>
              <a:t>No unsupported accuracy claims. No unimplemented IBM services.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" y="6510528"/>
            <a:ext cx="5486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9DABBE"/>
                </a:solidFill>
                <a:latin typeface="Aptos"/>
              </a:rPr>
              <a:t>CODESTORM  •  MISSIONGUARD AI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09960" y="6473952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DABBE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D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1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77724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>
                <a:solidFill>
                  <a:srgbClr val="F1F5F9"/>
                </a:solidFill>
                <a:latin typeface="Aptos"/>
              </a:rPr>
              <a:t>MISSIONGUARD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417320"/>
            <a:ext cx="6858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0">
                <a:solidFill>
                  <a:srgbClr val="9DABBE"/>
                </a:solidFill>
                <a:latin typeface="Aptos"/>
              </a:rPr>
              <a:t>A clearer path from asset health to mission readiness.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40280"/>
            <a:ext cx="10698480" cy="1828800"/>
          </a:xfrm>
          <a:prstGeom prst="roundRect">
            <a:avLst/>
          </a:prstGeom>
          <a:solidFill>
            <a:srgbClr val="0F1825"/>
          </a:solidFill>
          <a:ln w="12700">
            <a:solidFill>
              <a:srgbClr val="1F2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" y="2788920"/>
            <a:ext cx="1371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300" b="1">
                <a:solidFill>
                  <a:srgbClr val="31D3BE"/>
                </a:solidFill>
                <a:latin typeface="Aptos"/>
              </a:rPr>
              <a:t>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06040" y="2743200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500" b="1">
                <a:solidFill>
                  <a:srgbClr val="F1F5F9"/>
                </a:solidFill>
                <a:latin typeface="Aptos"/>
              </a:rPr>
              <a:t>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54680" y="2788920"/>
            <a:ext cx="1645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300" b="1">
                <a:solidFill>
                  <a:srgbClr val="4791FF"/>
                </a:solidFill>
                <a:latin typeface="Aptos"/>
              </a:rPr>
              <a:t>INSIGHT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92040" y="2743200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500" b="1">
                <a:solidFill>
                  <a:srgbClr val="F1F5F9"/>
                </a:solidFill>
                <a:latin typeface="Aptos"/>
              </a:rP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40680" y="2788920"/>
            <a:ext cx="1920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300" b="1">
                <a:solidFill>
                  <a:srgbClr val="4BCD7D"/>
                </a:solidFill>
                <a:latin typeface="Aptos"/>
              </a:rPr>
              <a:t>READINESS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52360" y="2743200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500" b="1">
                <a:solidFill>
                  <a:srgbClr val="F1F5F9"/>
                </a:solidFill>
                <a:latin typeface="Aptos"/>
              </a:rP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0" y="2788920"/>
            <a:ext cx="1554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300" b="1">
                <a:solidFill>
                  <a:srgbClr val="F6B743"/>
                </a:solidFill>
                <a:latin typeface="Aptos"/>
              </a:rPr>
              <a:t>ACTION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526280"/>
            <a:ext cx="104241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F1F5F9"/>
                </a:solidFill>
                <a:latin typeface="Aptos"/>
              </a:rPr>
              <a:t>MissionGuard transforms sensor and maintenance data into an explainable mission-readiness assessment, component-level failure-risk insight, and prioritized maintenance plan.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54880" y="5715000"/>
            <a:ext cx="2651760" cy="347472"/>
          </a:xfrm>
          <a:prstGeom prst="roundRect">
            <a:avLst/>
          </a:prstGeom>
          <a:solidFill>
            <a:srgbClr val="31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754880" y="5733288"/>
            <a:ext cx="26517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080D16"/>
                </a:solidFill>
                <a:latin typeface="Aptos"/>
              </a:rPr>
              <a:t>TEAM CODESTORM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6172200"/>
            <a:ext cx="4417142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dirty="0">
                <a:solidFill>
                  <a:srgbClr val="9DABBE"/>
                </a:solidFill>
                <a:latin typeface="Aptos"/>
              </a:rPr>
              <a:t>Thank you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6510528"/>
            <a:ext cx="5486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9DABBE"/>
                </a:solidFill>
                <a:latin typeface="Aptos"/>
              </a:rPr>
              <a:t>CODESTORM  •  MISSIONGUARD AI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09960" y="6473952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DABBE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895</Words>
  <Application>Microsoft Office PowerPoint</Application>
  <PresentationFormat>Widescreen</PresentationFormat>
  <Paragraphs>220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Varsha Karavadra</cp:lastModifiedBy>
  <cp:revision>2</cp:revision>
  <dcterms:created xsi:type="dcterms:W3CDTF">2013-01-27T09:14:16Z</dcterms:created>
  <dcterms:modified xsi:type="dcterms:W3CDTF">2026-09-14T18:25:22Z</dcterms:modified>
  <cp:category/>
</cp:coreProperties>
</file>